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70" r:id="rId10"/>
    <p:sldId id="268" r:id="rId11"/>
    <p:sldId id="271" r:id="rId12"/>
    <p:sldId id="269" r:id="rId13"/>
    <p:sldId id="272" r:id="rId14"/>
    <p:sldId id="263" r:id="rId15"/>
    <p:sldId id="273" r:id="rId16"/>
    <p:sldId id="274" r:id="rId17"/>
    <p:sldId id="264" r:id="rId18"/>
    <p:sldId id="265" r:id="rId19"/>
    <p:sldId id="266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876" y="-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125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38125"/>
            <a:ext cx="935302" cy="9715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3250" y="276225"/>
            <a:ext cx="1066800" cy="895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125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9903" y="242887"/>
            <a:ext cx="4630547" cy="14217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9492" y="2131758"/>
            <a:ext cx="9177655" cy="3688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5281/zenodo.16145913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715" y="287278"/>
            <a:ext cx="9809076" cy="1311392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3495" y="2229485"/>
            <a:ext cx="45427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-20" dirty="0">
                <a:solidFill>
                  <a:srgbClr val="FF0000"/>
                </a:solidFill>
                <a:latin typeface="Times New Roman"/>
                <a:cs typeface="Times New Roman"/>
              </a:rPr>
              <a:t>CSA0203-</a:t>
            </a:r>
            <a:r>
              <a:rPr sz="2750" b="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750" b="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0" spc="-10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0375" y="2916872"/>
            <a:ext cx="8729980" cy="960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7410" marR="5080" indent="-2124710">
              <a:lnSpc>
                <a:spcPct val="111500"/>
              </a:lnSpc>
              <a:spcBef>
                <a:spcPts val="95"/>
              </a:spcBef>
            </a:pP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Student</a:t>
            </a:r>
            <a:r>
              <a:rPr sz="2750" b="1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Result</a:t>
            </a:r>
            <a:r>
              <a:rPr sz="2750" b="1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2750" b="1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275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750" b="1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Grade</a:t>
            </a:r>
            <a:r>
              <a:rPr sz="2750" b="1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Generation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File</a:t>
            </a:r>
            <a:r>
              <a:rPr sz="275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275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dirty="0">
                <a:solidFill>
                  <a:srgbClr val="404040"/>
                </a:solidFill>
                <a:latin typeface="Times New Roman"/>
                <a:cs typeface="Times New Roman"/>
              </a:rPr>
              <a:t>Record</a:t>
            </a:r>
            <a:r>
              <a:rPr sz="275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5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012" y="4917376"/>
            <a:ext cx="3411220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Guided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</a:pPr>
            <a:r>
              <a:rPr sz="2400" spc="-10" dirty="0">
                <a:latin typeface="Times New Roman"/>
                <a:cs typeface="Times New Roman"/>
              </a:rPr>
              <a:t>Dr.Saravanan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Kaliaperumal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0951" y="4619942"/>
            <a:ext cx="37941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Student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Names: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R.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Jaideep(192525441)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  <a:spcBef>
                <a:spcPts val="50"/>
              </a:spcBef>
            </a:pPr>
            <a:r>
              <a:rPr sz="2400" dirty="0">
                <a:latin typeface="Times New Roman"/>
                <a:cs typeface="Times New Roman"/>
              </a:rPr>
              <a:t>B.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Bhanu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Prakash(192412518)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sz="2400" spc="-160" dirty="0">
                <a:latin typeface="Times New Roman"/>
                <a:cs typeface="Times New Roman"/>
              </a:rPr>
              <a:t>P.</a:t>
            </a:r>
            <a:r>
              <a:rPr sz="2400" dirty="0">
                <a:latin typeface="Times New Roman"/>
                <a:cs typeface="Times New Roman"/>
              </a:rPr>
              <a:t> Jeevan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Kumar(192572090)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550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94" rIns="0" bIns="0" rtlCol="0">
            <a:spAutoFit/>
          </a:bodyPr>
          <a:lstStyle/>
          <a:p>
            <a:pPr marL="600710">
              <a:lnSpc>
                <a:spcPct val="100000"/>
              </a:lnSpc>
              <a:spcBef>
                <a:spcPts val="105"/>
              </a:spcBef>
            </a:pPr>
            <a:r>
              <a:rPr sz="5400" spc="-55" dirty="0"/>
              <a:t>Introduction</a:t>
            </a:r>
            <a:endParaRPr sz="54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6100" y="561975"/>
            <a:ext cx="1066800" cy="7810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53757" y="1973770"/>
            <a:ext cx="6501130" cy="94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5080" indent="-92075">
              <a:lnSpc>
                <a:spcPct val="150200"/>
              </a:lnSpc>
              <a:spcBef>
                <a:spcPts val="95"/>
              </a:spcBef>
              <a:buFont typeface="Arial"/>
              <a:buChar char="•"/>
              <a:tabLst>
                <a:tab pos="104139" algn="l"/>
                <a:tab pos="165735" algn="l"/>
              </a:tabLst>
            </a:pPr>
            <a:r>
              <a:rPr sz="2000" dirty="0">
                <a:latin typeface="Times New Roman"/>
                <a:cs typeface="Times New Roman"/>
              </a:rPr>
              <a:t>	Student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Grade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programming.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7480" y="2122741"/>
            <a:ext cx="201231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developed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757" y="3219767"/>
            <a:ext cx="8773160" cy="2872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1290" indent="-14859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16129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File-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permanently.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Arial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166370" indent="-153670">
              <a:lnSpc>
                <a:spcPct val="100000"/>
              </a:lnSpc>
              <a:buFont typeface="Arial"/>
              <a:buChar char="•"/>
              <a:tabLst>
                <a:tab pos="16637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calculation 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percentage,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grade.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103505" indent="-101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03505" algn="l"/>
              </a:tabLst>
            </a:pP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added,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viewed,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searched,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updated, 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deleted.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103505" indent="-101600">
              <a:lnSpc>
                <a:spcPct val="100000"/>
              </a:lnSpc>
              <a:buFont typeface="Arial"/>
              <a:buChar char="•"/>
              <a:tabLst>
                <a:tab pos="10350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 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menu-</a:t>
            </a:r>
            <a:r>
              <a:rPr sz="2000" dirty="0">
                <a:latin typeface="Times New Roman"/>
                <a:cs typeface="Times New Roman"/>
              </a:rPr>
              <a:t>driven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Arial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103505" indent="-101600">
              <a:lnSpc>
                <a:spcPct val="100000"/>
              </a:lnSpc>
              <a:buFont typeface="Arial"/>
              <a:buChar char="•"/>
              <a:tabLst>
                <a:tab pos="10350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Structures,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Handling,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Conditional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69532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80726" y="434198"/>
            <a:ext cx="4630547" cy="1112804"/>
          </a:xfrm>
          <a:prstGeom prst="rect">
            <a:avLst/>
          </a:prstGeom>
        </p:spPr>
        <p:txBody>
          <a:bodyPr vert="horz" wrap="square" lIns="0" tIns="5534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30" dirty="0"/>
              <a:t>Problem</a:t>
            </a:r>
            <a:r>
              <a:rPr sz="3600" spc="-210" dirty="0"/>
              <a:t> </a:t>
            </a:r>
            <a:r>
              <a:rPr sz="3600" spc="-10" dirty="0"/>
              <a:t>Statement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2300" y="600075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4400" y="2133600"/>
            <a:ext cx="8124190" cy="318914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manually,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time-</a:t>
            </a:r>
            <a:r>
              <a:rPr sz="2000" spc="-10" dirty="0">
                <a:latin typeface="Times New Roman"/>
                <a:cs typeface="Times New Roman"/>
              </a:rPr>
              <a:t>consuming.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percentage,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errors.</a:t>
            </a:r>
            <a:endParaRPr sz="2000" dirty="0">
              <a:latin typeface="Times New Roman"/>
              <a:cs typeface="Times New Roman"/>
            </a:endParaRPr>
          </a:p>
          <a:p>
            <a:pPr marL="355600" marR="106680" indent="-342900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Maintaining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paper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difficult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lost</a:t>
            </a:r>
            <a:r>
              <a:rPr sz="2000" spc="-25" dirty="0">
                <a:latin typeface="Times New Roman"/>
                <a:cs typeface="Times New Roman"/>
              </a:rPr>
              <a:t> or </a:t>
            </a:r>
            <a:r>
              <a:rPr sz="2000" spc="-10" dirty="0">
                <a:latin typeface="Times New Roman"/>
                <a:cs typeface="Times New Roman"/>
              </a:rPr>
              <a:t>damaged.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Searching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inefficient.</a:t>
            </a:r>
            <a:endParaRPr sz="2000" dirty="0">
              <a:latin typeface="Times New Roman"/>
              <a:cs typeface="Times New Roman"/>
            </a:endParaRPr>
          </a:p>
          <a:p>
            <a:pPr marL="355600" marR="130810" indent="-342900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permanently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automatically.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45062" y="942975"/>
            <a:ext cx="2301875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10" dirty="0"/>
              <a:t>Abstract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7975" y="552450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1405" y="2361247"/>
            <a:ext cx="9853930" cy="36880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155" marR="5080" indent="-339090" algn="just">
              <a:lnSpc>
                <a:spcPct val="1502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1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1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Grade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1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programming 	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simplifies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academic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file-based 	</a:t>
            </a:r>
            <a:r>
              <a:rPr sz="2000" dirty="0">
                <a:latin typeface="Times New Roman"/>
                <a:cs typeface="Times New Roman"/>
              </a:rPr>
              <a:t>record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processing.</a:t>
            </a:r>
            <a:endParaRPr sz="2000">
              <a:latin typeface="Times New Roman"/>
              <a:cs typeface="Times New Roman"/>
            </a:endParaRPr>
          </a:p>
          <a:p>
            <a:pPr marL="351790" marR="8890" indent="-339725" algn="just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1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details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permanently,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1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calculates</a:t>
            </a:r>
            <a:r>
              <a:rPr sz="2000" spc="1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marks, 	</a:t>
            </a:r>
            <a:r>
              <a:rPr sz="2000" dirty="0">
                <a:latin typeface="Times New Roman"/>
                <a:cs typeface="Times New Roman"/>
              </a:rPr>
              <a:t>percentage,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grades,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view,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search,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delete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  <a:p>
            <a:pPr marL="351790" marR="8255" indent="-339725" algn="just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reduces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effort,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improves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accuracy,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demonstrates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practical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spc="-50" dirty="0">
                <a:latin typeface="Times New Roman"/>
                <a:cs typeface="Times New Roman"/>
              </a:rPr>
              <a:t>C 	</a:t>
            </a:r>
            <a:r>
              <a:rPr sz="2000" dirty="0">
                <a:latin typeface="Times New Roman"/>
                <a:cs typeface="Times New Roman"/>
              </a:rPr>
              <a:t>programming</a:t>
            </a:r>
            <a:r>
              <a:rPr sz="2000" spc="2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concepts</a:t>
            </a:r>
            <a:r>
              <a:rPr sz="2000" spc="2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1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2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handling,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structures,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functions,</a:t>
            </a:r>
            <a:r>
              <a:rPr sz="2000" spc="2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conditional 	</a:t>
            </a:r>
            <a:r>
              <a:rPr sz="2000" dirty="0">
                <a:latin typeface="Times New Roman"/>
                <a:cs typeface="Times New Roman"/>
              </a:rPr>
              <a:t>statements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80726" y="639391"/>
            <a:ext cx="4630547" cy="957633"/>
          </a:xfrm>
          <a:prstGeom prst="rect">
            <a:avLst/>
          </a:prstGeom>
        </p:spPr>
        <p:txBody>
          <a:bodyPr vert="horz" wrap="square" lIns="0" tIns="399732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105"/>
              </a:spcBef>
            </a:pPr>
            <a:r>
              <a:rPr sz="3600" spc="-35" dirty="0"/>
              <a:t>Existing</a:t>
            </a:r>
            <a:r>
              <a:rPr sz="3600" spc="-254" dirty="0"/>
              <a:t> </a:t>
            </a:r>
            <a:r>
              <a:rPr sz="3600" spc="-25" dirty="0"/>
              <a:t>System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7975" y="552450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0984" y="2020887"/>
            <a:ext cx="5758815" cy="4146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2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maintained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paper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registers.</a:t>
            </a:r>
            <a:endParaRPr sz="2000" dirty="0">
              <a:latin typeface="Times New Roman"/>
              <a:cs typeface="Times New Roman"/>
            </a:endParaRPr>
          </a:p>
          <a:p>
            <a:pPr marL="355600" marR="453390" indent="-343535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grade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done </a:t>
            </a:r>
            <a:r>
              <a:rPr sz="2000" spc="-10" dirty="0">
                <a:latin typeface="Times New Roman"/>
                <a:cs typeface="Times New Roman"/>
              </a:rPr>
              <a:t>manually.</a:t>
            </a:r>
            <a:endParaRPr sz="2000" dirty="0">
              <a:latin typeface="Times New Roman"/>
              <a:cs typeface="Times New Roman"/>
            </a:endParaRPr>
          </a:p>
          <a:p>
            <a:pPr marL="355600" marR="198755" indent="-343535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time-</a:t>
            </a:r>
            <a:r>
              <a:rPr sz="2000" dirty="0">
                <a:latin typeface="Times New Roman"/>
                <a:cs typeface="Times New Roman"/>
              </a:rPr>
              <a:t>consuming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prone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errors.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Searching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difficult.</a:t>
            </a:r>
            <a:endParaRPr sz="2000" dirty="0">
              <a:latin typeface="Times New Roman"/>
              <a:cs typeface="Times New Roman"/>
            </a:endParaRPr>
          </a:p>
          <a:p>
            <a:pPr marL="355600" marR="395605" indent="-343535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damaged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improper storage.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0" y="2181225"/>
            <a:ext cx="525780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647700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49903" y="242887"/>
            <a:ext cx="4630547" cy="1249958"/>
          </a:xfrm>
          <a:prstGeom prst="rect">
            <a:avLst/>
          </a:prstGeom>
        </p:spPr>
        <p:txBody>
          <a:bodyPr vert="horz" wrap="square" lIns="0" tIns="689229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0"/>
              </a:spcBef>
            </a:pPr>
            <a:r>
              <a:rPr sz="3600" spc="-60" dirty="0"/>
              <a:t>Proposed</a:t>
            </a:r>
            <a:r>
              <a:rPr sz="3600" spc="-204" dirty="0"/>
              <a:t> </a:t>
            </a:r>
            <a:r>
              <a:rPr sz="3600" spc="-10" dirty="0"/>
              <a:t>System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6100" y="552450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7327" y="1984438"/>
            <a:ext cx="5882005" cy="4145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3535">
              <a:lnSpc>
                <a:spcPct val="1502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handling.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permanently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files.</a:t>
            </a:r>
            <a:endParaRPr sz="2000">
              <a:latin typeface="Times New Roman"/>
              <a:cs typeface="Times New Roman"/>
            </a:endParaRPr>
          </a:p>
          <a:p>
            <a:pPr marL="355600" marR="12065" indent="-343535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marks,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percentage,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grades.</a:t>
            </a:r>
            <a:endParaRPr sz="2000">
              <a:latin typeface="Times New Roman"/>
              <a:cs typeface="Times New Roman"/>
            </a:endParaRPr>
          </a:p>
          <a:p>
            <a:pPr marL="355600" marR="12065" indent="-343535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options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add,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view,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search,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update,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delete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processing efficiency.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8425" y="2152650"/>
            <a:ext cx="561975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78391" y="205867"/>
            <a:ext cx="4630547" cy="1298368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sz="3600" spc="-45" dirty="0"/>
              <a:t>Functionality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0675" y="2122868"/>
            <a:ext cx="4872990" cy="41459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View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Search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details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Update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Delete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  <a:p>
            <a:pPr marL="355600" marR="10795" indent="-343535">
              <a:lnSpc>
                <a:spcPct val="150200"/>
              </a:lnSpc>
              <a:buFont typeface="Arial"/>
              <a:buChar char="•"/>
              <a:tabLst>
                <a:tab pos="355600" algn="l"/>
                <a:tab pos="1532890" algn="l"/>
                <a:tab pos="2201545" algn="l"/>
                <a:tab pos="3103880" algn="l"/>
                <a:tab pos="4486275" algn="l"/>
              </a:tabLst>
            </a:pPr>
            <a:r>
              <a:rPr sz="2000" spc="-10" dirty="0">
                <a:latin typeface="Times New Roman"/>
                <a:cs typeface="Times New Roman"/>
              </a:rPr>
              <a:t>Calculate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total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marks,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percentage,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grade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automatically.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200"/>
              </a:lnSpc>
              <a:buFont typeface="Arial"/>
              <a:buChar char="•"/>
              <a:tabLst>
                <a:tab pos="355600" algn="l"/>
                <a:tab pos="1128395" algn="l"/>
                <a:tab pos="1733550" algn="l"/>
                <a:tab pos="2744470" algn="l"/>
                <a:tab pos="3728720" algn="l"/>
                <a:tab pos="4516120" algn="l"/>
              </a:tabLst>
            </a:pPr>
            <a:r>
              <a:rPr sz="2000" spc="-10" dirty="0">
                <a:latin typeface="Times New Roman"/>
                <a:cs typeface="Times New Roman"/>
              </a:rPr>
              <a:t>Store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retrieve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records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using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file </a:t>
            </a:r>
            <a:r>
              <a:rPr sz="2000" spc="-10" dirty="0">
                <a:latin typeface="Times New Roman"/>
                <a:cs typeface="Times New Roman"/>
              </a:rPr>
              <a:t>handling.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4075" y="2324100"/>
            <a:ext cx="601980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4842-D0B0-7AE1-AC0B-6889B1A8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EF03065-4A24-0796-EBC9-985239509F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6BD262E-FB46-946D-467D-F15BBED8E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93791"/>
            <a:ext cx="9890125" cy="1298368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Module 1: Student Marks Entry Module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1A77C1C-2DC6-D246-8B05-3EB58373EC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71AD5EF-F432-AC95-70D1-9347289D1E88}"/>
              </a:ext>
            </a:extLst>
          </p:cNvPr>
          <p:cNvSpPr txBox="1"/>
          <p:nvPr/>
        </p:nvSpPr>
        <p:spPr>
          <a:xfrm>
            <a:off x="217571" y="2415719"/>
            <a:ext cx="5715000" cy="120834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student details and subject marks.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Roll Number and Student Name.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D301BC-AA7D-13D2-5C13-D7AA2907A3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12" b="67778"/>
          <a:stretch>
            <a:fillRect/>
          </a:stretch>
        </p:blipFill>
        <p:spPr>
          <a:xfrm>
            <a:off x="838200" y="4036565"/>
            <a:ext cx="10172700" cy="2209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883957-08B3-B9CD-5DCA-5042A275DBE1}"/>
              </a:ext>
            </a:extLst>
          </p:cNvPr>
          <p:cNvSpPr txBox="1"/>
          <p:nvPr/>
        </p:nvSpPr>
        <p:spPr>
          <a:xfrm>
            <a:off x="6259431" y="2308020"/>
            <a:ext cx="6096000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marks for each subject.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the entered marks.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student data using file handling.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7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3094-3C10-6159-05C0-99780796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70ACCE3-28AD-5181-F539-19FEA46EEF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F8B2FD4-C11C-0782-B413-F8F4D4EB26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93791"/>
            <a:ext cx="9890125" cy="1298368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Module 1: Student Marks Entry Module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2D5C58A-824E-8EE1-C1B6-EA61953AB3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E95470E-007D-A93D-8373-D966965F8BCF}"/>
              </a:ext>
            </a:extLst>
          </p:cNvPr>
          <p:cNvSpPr txBox="1"/>
          <p:nvPr/>
        </p:nvSpPr>
        <p:spPr>
          <a:xfrm>
            <a:off x="1447800" y="1752600"/>
            <a:ext cx="6746706" cy="447558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Student {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roll;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name[50];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marks[5];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Student s;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printf("Enter Roll Number: ");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s.roll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printf("Enter Student Name: ");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("%s", s.name);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5;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printf("Enter Marks: ");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s.marks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9946B-0428-C60D-0023-6765DAFA6627}"/>
              </a:ext>
            </a:extLst>
          </p:cNvPr>
          <p:cNvSpPr txBox="1"/>
          <p:nvPr/>
        </p:nvSpPr>
        <p:spPr>
          <a:xfrm>
            <a:off x="6676022" y="2514600"/>
            <a:ext cx="5248275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 the first module, we collect the student's roll number, name and five subject marks. We use a structure to store all student information, and a loop is used to enter the subject marks efficiently.”</a:t>
            </a:r>
          </a:p>
        </p:txBody>
      </p:sp>
    </p:spTree>
    <p:extLst>
      <p:ext uri="{BB962C8B-B14F-4D97-AF65-F5344CB8AC3E}">
        <p14:creationId xmlns:p14="http://schemas.microsoft.com/office/powerpoint/2010/main" val="188468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266B-96DB-10C5-4EE4-193A9CFC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96092F1-BAB4-28DF-72CF-5B3654596F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5566586-711A-6019-958C-1979F1100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293791"/>
            <a:ext cx="10515600" cy="1298368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Module 2: Evaluation Processing Module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0DB6418-CFC5-090E-63D1-89FE57ED283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851A30F-1DB2-984E-07D5-D20A4E3246E8}"/>
              </a:ext>
            </a:extLst>
          </p:cNvPr>
          <p:cNvSpPr txBox="1"/>
          <p:nvPr/>
        </p:nvSpPr>
        <p:spPr>
          <a:xfrm>
            <a:off x="320675" y="2122868"/>
            <a:ext cx="4872990" cy="120834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stored student marks.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the marks automatically.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AEA29-6E4B-215D-2AA7-8F82452A8F05}"/>
              </a:ext>
            </a:extLst>
          </p:cNvPr>
          <p:cNvSpPr txBox="1"/>
          <p:nvPr/>
        </p:nvSpPr>
        <p:spPr>
          <a:xfrm>
            <a:off x="5661192" y="1850818"/>
            <a:ext cx="6308725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total marks.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percentage.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the student's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99562D-9239-4BEE-9A5D-74D7DE4E3C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222" b="32809"/>
          <a:stretch>
            <a:fillRect/>
          </a:stretch>
        </p:blipFill>
        <p:spPr>
          <a:xfrm>
            <a:off x="762000" y="3827661"/>
            <a:ext cx="10287000" cy="239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1BF6-5417-03BD-635F-B2A0DDE77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0AFBC63A-9C67-5ECF-A91D-5F4DDC1F6A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8306789-7547-AB3A-3B9E-F823A903D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293791"/>
            <a:ext cx="10515600" cy="1298368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Module 2: Evaluation Processing Module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C53C1-9BD7-707D-C44E-25659CA188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DB6DCD5-064F-BD9C-3536-D5646D1D861D}"/>
              </a:ext>
            </a:extLst>
          </p:cNvPr>
          <p:cNvSpPr txBox="1"/>
          <p:nvPr/>
        </p:nvSpPr>
        <p:spPr>
          <a:xfrm>
            <a:off x="533400" y="2057400"/>
            <a:ext cx="4872990" cy="397833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 lvl="0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5;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s.marks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0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s.percentage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5.0;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45FF1-7AE4-41EA-A472-B5DBDA50D473}"/>
              </a:ext>
            </a:extLst>
          </p:cNvPr>
          <p:cNvSpPr txBox="1"/>
          <p:nvPr/>
        </p:nvSpPr>
        <p:spPr>
          <a:xfrm>
            <a:off x="5645150" y="2286000"/>
            <a:ext cx="6308725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“In the second module, the entered marks are processed. The program adds all five subject marks using a loop and calculates the total. Then the percentage is calculated from the total marks.”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 “Why loop?”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“The loop avoids writing separate statements for every subject and makes the program easier to modify.”</a:t>
            </a:r>
          </a:p>
        </p:txBody>
      </p:sp>
    </p:spTree>
    <p:extLst>
      <p:ext uri="{BB962C8B-B14F-4D97-AF65-F5344CB8AC3E}">
        <p14:creationId xmlns:p14="http://schemas.microsoft.com/office/powerpoint/2010/main" val="2042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99FC-7701-EE31-A74A-72AD8BC2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5B9DEA1-E156-3403-D0BB-5AF54C5A89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9A97822-B4CE-2F37-5ECB-6A06FC3CFB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875" y="-124182"/>
            <a:ext cx="9296400" cy="1852366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Module 3: Grade Calculation &amp; Result Processing Module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C2925B4-70D5-2AD4-E4CA-800ACBE1DE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88D058F-1DD0-432E-D84C-E8D410C037FC}"/>
              </a:ext>
            </a:extLst>
          </p:cNvPr>
          <p:cNvSpPr txBox="1"/>
          <p:nvPr/>
        </p:nvSpPr>
        <p:spPr>
          <a:xfrm>
            <a:off x="320674" y="2122868"/>
            <a:ext cx="5241926" cy="17602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Determines the grade based on percentage.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Generates the student's final result.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EFD35-0B94-63E3-5EEF-7C0B39A452CB}"/>
              </a:ext>
            </a:extLst>
          </p:cNvPr>
          <p:cNvSpPr txBox="1"/>
          <p:nvPr/>
        </p:nvSpPr>
        <p:spPr>
          <a:xfrm>
            <a:off x="6096000" y="1828800"/>
            <a:ext cx="5514474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Displays marks, percentage, and grade.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Stores the processed result.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Provides the final result to the user.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AD188-F5F8-BE66-9995-7391FA2805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555"/>
          <a:stretch>
            <a:fillRect/>
          </a:stretch>
        </p:blipFill>
        <p:spPr>
          <a:xfrm>
            <a:off x="705776" y="3948717"/>
            <a:ext cx="10287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6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2F9A-27AD-300A-CB05-093261CC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440DC818-7CCC-7663-6753-B53B036B5D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190B53E-7E59-F922-9A34-7838F0F87D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875" y="-124182"/>
            <a:ext cx="9296400" cy="1852366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Module 3: Grade Calculation &amp; Result Processing Module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0F7E6DE-8B6C-5D4E-628D-5A27777295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3D72EE7-C805-55A5-F2E1-651B42198A5F}"/>
              </a:ext>
            </a:extLst>
          </p:cNvPr>
          <p:cNvSpPr txBox="1"/>
          <p:nvPr/>
        </p:nvSpPr>
        <p:spPr>
          <a:xfrm>
            <a:off x="914400" y="1818068"/>
            <a:ext cx="5943600" cy="447558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s.percentage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90)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'A';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s.percentage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80)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'B';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s.percentage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70)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'C';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s.percentage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60)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'D';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'F';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s.percentage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50)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printf("PASS");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printf("FAIL");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29766-D48B-E95B-B0CA-1258565A9EA3}"/>
              </a:ext>
            </a:extLst>
          </p:cNvPr>
          <p:cNvSpPr txBox="1"/>
          <p:nvPr/>
        </p:nvSpPr>
        <p:spPr>
          <a:xfrm>
            <a:off x="6096000" y="2223484"/>
            <a:ext cx="5514474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“In the third module, the calculated percentage is used to generate the grade. The program also checks the pass condition. If the percentage is 50 or above, the result is PASS; otherwise it is FAIL.”</a:t>
            </a:r>
          </a:p>
        </p:txBody>
      </p:sp>
    </p:spTree>
    <p:extLst>
      <p:ext uri="{BB962C8B-B14F-4D97-AF65-F5344CB8AC3E}">
        <p14:creationId xmlns:p14="http://schemas.microsoft.com/office/powerpoint/2010/main" val="1587086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05200" y="802132"/>
            <a:ext cx="4630547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105"/>
              </a:spcBef>
            </a:pPr>
            <a:r>
              <a:rPr sz="3600" spc="-40" dirty="0"/>
              <a:t>Algorithms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7032" y="1714507"/>
            <a:ext cx="5222240" cy="460438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Start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Display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menu.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2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required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 </a:t>
            </a:r>
            <a:r>
              <a:rPr sz="2000" dirty="0">
                <a:latin typeface="Times New Roman"/>
                <a:cs typeface="Times New Roman"/>
              </a:rPr>
              <a:t>(Search/Update/Delete).Read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modify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student data.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Calculate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percentage,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grade.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retrieve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file.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Display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result.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Repeat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Exit.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2343150"/>
            <a:ext cx="5791200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ABF4-7BCD-EA11-4ABE-225633E65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8FDD8C10-EDF5-4D61-735C-918B5F815D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2F4A240-7EEF-443E-4328-BB98E9A7E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802132"/>
            <a:ext cx="4630547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105"/>
              </a:spcBef>
            </a:pPr>
            <a:r>
              <a:rPr lang="en-US" sz="3600" spc="-40" dirty="0"/>
              <a:t>OUTPUT</a:t>
            </a:r>
            <a:endParaRPr sz="3600" spc="-4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87070C2-E107-9BA3-ECD4-1573993EC8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021B00-5D7F-38B9-E585-7012E78DC6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74" t="19431" r="20000" b="8034"/>
          <a:stretch>
            <a:fillRect/>
          </a:stretch>
        </p:blipFill>
        <p:spPr>
          <a:xfrm>
            <a:off x="2010473" y="1905000"/>
            <a:ext cx="7619999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69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6141-A451-3ABA-10CE-7572CEE9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972B8C7-9ABC-AC8F-A5D6-759BF93106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F42B2EE-B42C-BCEF-E218-87CCD8F04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802132"/>
            <a:ext cx="4630547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105"/>
              </a:spcBef>
            </a:pPr>
            <a:r>
              <a:rPr lang="en-US" sz="3600" spc="-40" dirty="0"/>
              <a:t>OUTPUT</a:t>
            </a:r>
            <a:endParaRPr sz="3600" spc="-4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8533841-61CD-5D98-3618-E695E3D308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D1DBC7-62D3-964A-EEB9-882E163CC3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178" t="26801" r="10959" b="7413"/>
          <a:stretch>
            <a:fillRect/>
          </a:stretch>
        </p:blipFill>
        <p:spPr>
          <a:xfrm>
            <a:off x="1600200" y="1828800"/>
            <a:ext cx="834813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64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619125"/>
            <a:ext cx="935302" cy="971550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0" y="503850"/>
            <a:ext cx="4630547" cy="1020150"/>
          </a:xfrm>
          <a:prstGeom prst="rect">
            <a:avLst/>
          </a:prstGeom>
        </p:spPr>
        <p:txBody>
          <a:bodyPr vert="horz" wrap="square" lIns="0" tIns="461644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105"/>
              </a:spcBef>
            </a:pPr>
            <a:r>
              <a:rPr sz="3600" spc="-45" dirty="0"/>
              <a:t>Conclusion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2750" y="619125"/>
            <a:ext cx="1066800" cy="9048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1000" y="1897883"/>
            <a:ext cx="6049073" cy="4111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350" algn="just">
              <a:lnSpc>
                <a:spcPct val="150200"/>
              </a:lnSpc>
              <a:spcBef>
                <a:spcPts val="90"/>
              </a:spcBef>
              <a:tabLst>
                <a:tab pos="614045" algn="l"/>
                <a:tab pos="1524635" algn="l"/>
                <a:tab pos="2604770" algn="l"/>
                <a:tab pos="2923540" algn="l"/>
                <a:tab pos="3804920" algn="l"/>
                <a:tab pos="4378325" algn="l"/>
                <a:tab pos="5423535" algn="l"/>
                <a:tab pos="6362700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provides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simple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efficient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12700" marR="6350" algn="just">
              <a:lnSpc>
                <a:spcPct val="150200"/>
              </a:lnSpc>
              <a:spcBef>
                <a:spcPts val="90"/>
              </a:spcBef>
              <a:tabLst>
                <a:tab pos="614045" algn="l"/>
                <a:tab pos="1524635" algn="l"/>
                <a:tab pos="2604770" algn="l"/>
                <a:tab pos="2923540" algn="l"/>
                <a:tab pos="3804920" algn="l"/>
                <a:tab pos="4378325" algn="l"/>
                <a:tab pos="5423535" algn="l"/>
                <a:tab pos="6362700" algn="l"/>
              </a:tabLst>
            </a:pPr>
            <a:r>
              <a:rPr sz="2000" spc="-10" dirty="0">
                <a:latin typeface="Times New Roman"/>
                <a:cs typeface="Times New Roman"/>
              </a:rPr>
              <a:t>student</a:t>
            </a:r>
            <a:r>
              <a:rPr lang="en-IN"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 dirty="0">
              <a:latin typeface="Times New Roman"/>
              <a:cs typeface="Times New Roman"/>
            </a:endParaRPr>
          </a:p>
          <a:p>
            <a:pPr marL="12700" marR="146685">
              <a:lnSpc>
                <a:spcPct val="1502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percentage,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grades.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permanent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 dirty="0">
              <a:latin typeface="Times New Roman"/>
              <a:cs typeface="Times New Roman"/>
            </a:endParaRPr>
          </a:p>
          <a:p>
            <a:pPr marL="12700" marR="6350">
              <a:lnSpc>
                <a:spcPct val="1502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effort,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minimizes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errors,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improves accuracy.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200"/>
              </a:lnSpc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demonstrates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practical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file </a:t>
            </a:r>
            <a:r>
              <a:rPr sz="2000" spc="-10" dirty="0">
                <a:latin typeface="Times New Roman"/>
                <a:cs typeface="Times New Roman"/>
              </a:rPr>
              <a:t>handling.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A59609-4B64-6C11-C48F-BA7C841DFE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482" t="22223" r="1671" b="18888"/>
          <a:stretch>
            <a:fillRect/>
          </a:stretch>
        </p:blipFill>
        <p:spPr>
          <a:xfrm>
            <a:off x="6277672" y="2191956"/>
            <a:ext cx="5685727" cy="35230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38125"/>
            <a:ext cx="935302" cy="971550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0" y="555018"/>
            <a:ext cx="4630547" cy="966289"/>
          </a:xfrm>
          <a:prstGeom prst="rect">
            <a:avLst/>
          </a:prstGeom>
        </p:spPr>
        <p:txBody>
          <a:bodyPr vert="horz" wrap="square" lIns="0" tIns="408304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105"/>
              </a:spcBef>
            </a:pPr>
            <a:r>
              <a:rPr sz="3600" spc="-55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3250" y="276225"/>
            <a:ext cx="1066800" cy="8953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5910" indent="-283210" algn="just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295910" algn="l"/>
              </a:tabLst>
            </a:pPr>
            <a:r>
              <a:rPr spc="-10" dirty="0"/>
              <a:t>Balagurusamy,</a:t>
            </a:r>
            <a:r>
              <a:rPr spc="-25" dirty="0"/>
              <a:t> </a:t>
            </a:r>
            <a:r>
              <a:rPr dirty="0"/>
              <a:t>E.</a:t>
            </a:r>
            <a:r>
              <a:rPr spc="-30" dirty="0"/>
              <a:t> </a:t>
            </a:r>
            <a:r>
              <a:rPr dirty="0"/>
              <a:t>(2024).</a:t>
            </a:r>
            <a:r>
              <a:rPr spc="-30" dirty="0"/>
              <a:t> </a:t>
            </a:r>
            <a:r>
              <a:rPr dirty="0"/>
              <a:t>Programming</a:t>
            </a:r>
            <a:r>
              <a:rPr spc="-45" dirty="0"/>
              <a:t> </a:t>
            </a:r>
            <a:r>
              <a:rPr dirty="0"/>
              <a:t>in</a:t>
            </a:r>
            <a:r>
              <a:rPr spc="-114" dirty="0"/>
              <a:t> </a:t>
            </a:r>
            <a:r>
              <a:rPr dirty="0"/>
              <a:t>ANSI</a:t>
            </a:r>
            <a:r>
              <a:rPr spc="-70" dirty="0"/>
              <a:t> </a:t>
            </a:r>
            <a:r>
              <a:rPr dirty="0"/>
              <a:t>C</a:t>
            </a:r>
            <a:r>
              <a:rPr spc="-40" dirty="0"/>
              <a:t> </a:t>
            </a:r>
            <a:r>
              <a:rPr dirty="0"/>
              <a:t>(9th</a:t>
            </a:r>
            <a:r>
              <a:rPr spc="-10" dirty="0"/>
              <a:t> </a:t>
            </a:r>
            <a:r>
              <a:rPr dirty="0"/>
              <a:t>ed.).</a:t>
            </a:r>
            <a:r>
              <a:rPr spc="-30" dirty="0"/>
              <a:t> </a:t>
            </a:r>
            <a:r>
              <a:rPr dirty="0"/>
              <a:t>McGraw</a:t>
            </a:r>
            <a:r>
              <a:rPr spc="-70" dirty="0"/>
              <a:t> </a:t>
            </a:r>
            <a:r>
              <a:rPr dirty="0"/>
              <a:t>Hill</a:t>
            </a:r>
            <a:r>
              <a:rPr spc="-35" dirty="0"/>
              <a:t> </a:t>
            </a:r>
            <a:r>
              <a:rPr spc="-10" dirty="0"/>
              <a:t>Education.</a:t>
            </a:r>
          </a:p>
          <a:p>
            <a:pPr marL="295910" indent="-283210" algn="just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95910" algn="l"/>
              </a:tabLst>
            </a:pPr>
            <a:r>
              <a:rPr spc="-20" dirty="0"/>
              <a:t>Kanetkar,</a:t>
            </a:r>
            <a:r>
              <a:rPr spc="-105" dirty="0"/>
              <a:t> </a:t>
            </a:r>
            <a:r>
              <a:rPr spc="-135" dirty="0"/>
              <a:t>Y.</a:t>
            </a:r>
            <a:r>
              <a:rPr spc="-10" dirty="0"/>
              <a:t> </a:t>
            </a:r>
            <a:r>
              <a:rPr spc="-105" dirty="0"/>
              <a:t>P.</a:t>
            </a:r>
            <a:r>
              <a:rPr spc="-15" dirty="0"/>
              <a:t> </a:t>
            </a:r>
            <a:r>
              <a:rPr dirty="0"/>
              <a:t>(2024).</a:t>
            </a:r>
            <a:r>
              <a:rPr spc="-10" dirty="0"/>
              <a:t> </a:t>
            </a:r>
            <a:r>
              <a:rPr dirty="0"/>
              <a:t>Let Us</a:t>
            </a:r>
            <a:r>
              <a:rPr spc="10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(20th</a:t>
            </a:r>
            <a:r>
              <a:rPr spc="10" dirty="0"/>
              <a:t> </a:t>
            </a:r>
            <a:r>
              <a:rPr dirty="0"/>
              <a:t>ed.).</a:t>
            </a:r>
            <a:r>
              <a:rPr spc="-10" dirty="0"/>
              <a:t> </a:t>
            </a:r>
            <a:r>
              <a:rPr dirty="0"/>
              <a:t>BPB</a:t>
            </a:r>
            <a:r>
              <a:rPr spc="-45" dirty="0"/>
              <a:t> </a:t>
            </a:r>
            <a:r>
              <a:rPr spc="-10" dirty="0"/>
              <a:t>Publications.</a:t>
            </a:r>
          </a:p>
          <a:p>
            <a:pPr marL="295910" indent="-283210" algn="just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95910" algn="l"/>
              </a:tabLst>
            </a:pPr>
            <a:r>
              <a:rPr dirty="0"/>
              <a:t>Thareja,</a:t>
            </a:r>
            <a:r>
              <a:rPr spc="-5" dirty="0"/>
              <a:t> </a:t>
            </a:r>
            <a:r>
              <a:rPr dirty="0"/>
              <a:t>R.</a:t>
            </a:r>
            <a:r>
              <a:rPr spc="-40" dirty="0"/>
              <a:t> </a:t>
            </a:r>
            <a:r>
              <a:rPr dirty="0"/>
              <a:t>(2023).</a:t>
            </a:r>
            <a:r>
              <a:rPr spc="-30" dirty="0"/>
              <a:t> </a:t>
            </a:r>
            <a:r>
              <a:rPr dirty="0"/>
              <a:t>Programming</a:t>
            </a:r>
            <a:r>
              <a:rPr spc="-3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C</a:t>
            </a:r>
            <a:r>
              <a:rPr spc="-40" dirty="0"/>
              <a:t> </a:t>
            </a:r>
            <a:r>
              <a:rPr dirty="0"/>
              <a:t>(3rd</a:t>
            </a:r>
            <a:r>
              <a:rPr spc="-55" dirty="0"/>
              <a:t> </a:t>
            </a:r>
            <a:r>
              <a:rPr dirty="0"/>
              <a:t>ed.).</a:t>
            </a:r>
            <a:r>
              <a:rPr spc="-35" dirty="0"/>
              <a:t> </a:t>
            </a:r>
            <a:r>
              <a:rPr dirty="0"/>
              <a:t>Oxford</a:t>
            </a:r>
            <a:r>
              <a:rPr spc="-60" dirty="0"/>
              <a:t> </a:t>
            </a:r>
            <a:r>
              <a:rPr dirty="0"/>
              <a:t>University</a:t>
            </a:r>
            <a:r>
              <a:rPr spc="-30" dirty="0"/>
              <a:t> </a:t>
            </a:r>
            <a:r>
              <a:rPr spc="-10" dirty="0"/>
              <a:t>Press.</a:t>
            </a:r>
          </a:p>
          <a:p>
            <a:pPr marL="295275" marR="8255" indent="-283210" algn="just">
              <a:lnSpc>
                <a:spcPct val="150200"/>
              </a:lnSpc>
              <a:buFont typeface="Arial"/>
              <a:buChar char="•"/>
              <a:tabLst>
                <a:tab pos="298450" algn="l"/>
              </a:tabLst>
            </a:pPr>
            <a:r>
              <a:rPr dirty="0"/>
              <a:t>Dubey,</a:t>
            </a:r>
            <a:r>
              <a:rPr spc="25" dirty="0"/>
              <a:t> </a:t>
            </a:r>
            <a:r>
              <a:rPr spc="-60" dirty="0"/>
              <a:t>V.,</a:t>
            </a:r>
            <a:r>
              <a:rPr spc="-10" dirty="0"/>
              <a:t> </a:t>
            </a:r>
            <a:r>
              <a:rPr dirty="0"/>
              <a:t>Deep,</a:t>
            </a:r>
            <a:r>
              <a:rPr spc="20" dirty="0"/>
              <a:t> </a:t>
            </a:r>
            <a:r>
              <a:rPr spc="-40" dirty="0"/>
              <a:t>P.,</a:t>
            </a:r>
            <a:r>
              <a:rPr spc="-10" dirty="0"/>
              <a:t> </a:t>
            </a:r>
            <a:r>
              <a:rPr dirty="0"/>
              <a:t>Anand,</a:t>
            </a:r>
            <a:r>
              <a:rPr spc="-5" dirty="0"/>
              <a:t> </a:t>
            </a:r>
            <a:r>
              <a:rPr dirty="0"/>
              <a:t>J.,</a:t>
            </a:r>
            <a:r>
              <a:rPr spc="-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Kumar,</a:t>
            </a:r>
            <a:r>
              <a:rPr spc="-20" dirty="0"/>
              <a:t> </a:t>
            </a:r>
            <a:r>
              <a:rPr dirty="0"/>
              <a:t>L.</a:t>
            </a:r>
            <a:r>
              <a:rPr spc="-10" dirty="0"/>
              <a:t> </a:t>
            </a:r>
            <a:r>
              <a:rPr dirty="0"/>
              <a:t>(2025).</a:t>
            </a:r>
            <a:r>
              <a:rPr spc="-10" dirty="0"/>
              <a:t> </a:t>
            </a:r>
            <a:r>
              <a:rPr dirty="0"/>
              <a:t>File</a:t>
            </a:r>
            <a:r>
              <a:rPr spc="-45" dirty="0"/>
              <a:t> </a:t>
            </a:r>
            <a:r>
              <a:rPr dirty="0"/>
              <a:t>Handling</a:t>
            </a:r>
            <a:r>
              <a:rPr spc="-2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spc="-10" dirty="0"/>
              <a:t>Programming. 	</a:t>
            </a:r>
            <a:r>
              <a:rPr dirty="0"/>
              <a:t>Chyren</a:t>
            </a:r>
            <a:r>
              <a:rPr spc="-45" dirty="0"/>
              <a:t> </a:t>
            </a:r>
            <a:r>
              <a:rPr dirty="0"/>
              <a:t>Publication.</a:t>
            </a:r>
            <a:r>
              <a:rPr spc="-50" dirty="0"/>
              <a:t> </a:t>
            </a:r>
            <a:r>
              <a:rPr u="sng" spc="-10" dirty="0">
                <a:uFill>
                  <a:solidFill>
                    <a:srgbClr val="000000"/>
                  </a:solidFill>
                </a:uFill>
                <a:hlinkClick r:id="rId4"/>
              </a:rPr>
              <a:t>https://doi.org/10.5281/zenodo.16145913</a:t>
            </a:r>
          </a:p>
          <a:p>
            <a:pPr marL="295275" marR="5080" indent="-283210" algn="just">
              <a:lnSpc>
                <a:spcPct val="150200"/>
              </a:lnSpc>
              <a:buFont typeface="Arial"/>
              <a:buChar char="•"/>
              <a:tabLst>
                <a:tab pos="298450" algn="l"/>
              </a:tabLst>
            </a:pPr>
            <a:r>
              <a:rPr dirty="0"/>
              <a:t>Kumar,</a:t>
            </a:r>
            <a:r>
              <a:rPr spc="420" dirty="0"/>
              <a:t> </a:t>
            </a:r>
            <a:r>
              <a:rPr dirty="0"/>
              <a:t>S.,</a:t>
            </a:r>
            <a:r>
              <a:rPr spc="425" dirty="0"/>
              <a:t> </a:t>
            </a:r>
            <a:r>
              <a:rPr dirty="0"/>
              <a:t>Mangal,</a:t>
            </a:r>
            <a:r>
              <a:rPr spc="450" dirty="0"/>
              <a:t> </a:t>
            </a:r>
            <a:r>
              <a:rPr dirty="0"/>
              <a:t>S.,</a:t>
            </a:r>
            <a:r>
              <a:rPr spc="425" dirty="0"/>
              <a:t> </a:t>
            </a:r>
            <a:r>
              <a:rPr dirty="0"/>
              <a:t>&amp;</a:t>
            </a:r>
            <a:r>
              <a:rPr spc="405" dirty="0"/>
              <a:t> </a:t>
            </a:r>
            <a:r>
              <a:rPr dirty="0"/>
              <a:t>Singh,</a:t>
            </a:r>
            <a:r>
              <a:rPr spc="440" dirty="0"/>
              <a:t> </a:t>
            </a:r>
            <a:r>
              <a:rPr dirty="0"/>
              <a:t>A.</a:t>
            </a:r>
            <a:r>
              <a:rPr spc="425" dirty="0"/>
              <a:t> </a:t>
            </a:r>
            <a:r>
              <a:rPr dirty="0"/>
              <a:t>(2024).</a:t>
            </a:r>
            <a:r>
              <a:rPr spc="425" dirty="0"/>
              <a:t> </a:t>
            </a:r>
            <a:r>
              <a:rPr dirty="0"/>
              <a:t>Supervision</a:t>
            </a:r>
            <a:r>
              <a:rPr spc="420" dirty="0"/>
              <a:t> </a:t>
            </a:r>
            <a:r>
              <a:rPr dirty="0"/>
              <a:t>of</a:t>
            </a:r>
            <a:r>
              <a:rPr spc="445" dirty="0"/>
              <a:t> </a:t>
            </a:r>
            <a:r>
              <a:rPr dirty="0"/>
              <a:t>College</a:t>
            </a:r>
            <a:r>
              <a:rPr spc="425" dirty="0"/>
              <a:t> </a:t>
            </a:r>
            <a:r>
              <a:rPr spc="-10" dirty="0"/>
              <a:t>Management 	</a:t>
            </a:r>
            <a:r>
              <a:rPr dirty="0"/>
              <a:t>Using</a:t>
            </a:r>
            <a:r>
              <a:rPr spc="409" dirty="0"/>
              <a:t> </a:t>
            </a:r>
            <a:r>
              <a:rPr dirty="0"/>
              <a:t>Database</a:t>
            </a:r>
            <a:r>
              <a:rPr spc="375" dirty="0"/>
              <a:t> </a:t>
            </a:r>
            <a:r>
              <a:rPr dirty="0"/>
              <a:t>Management</a:t>
            </a:r>
            <a:r>
              <a:rPr spc="365" dirty="0"/>
              <a:t> </a:t>
            </a:r>
            <a:r>
              <a:rPr dirty="0"/>
              <a:t>System.</a:t>
            </a:r>
            <a:r>
              <a:rPr spc="385" dirty="0"/>
              <a:t> </a:t>
            </a:r>
            <a:r>
              <a:rPr dirty="0"/>
              <a:t>Journal</a:t>
            </a:r>
            <a:r>
              <a:rPr spc="390" dirty="0"/>
              <a:t> </a:t>
            </a:r>
            <a:r>
              <a:rPr dirty="0"/>
              <a:t>of</a:t>
            </a:r>
            <a:r>
              <a:rPr spc="405" dirty="0"/>
              <a:t> </a:t>
            </a:r>
            <a:r>
              <a:rPr dirty="0"/>
              <a:t>Advanced</a:t>
            </a:r>
            <a:r>
              <a:rPr spc="375" dirty="0"/>
              <a:t> </a:t>
            </a:r>
            <a:r>
              <a:rPr dirty="0"/>
              <a:t>Database</a:t>
            </a:r>
            <a:r>
              <a:rPr spc="375" dirty="0"/>
              <a:t> </a:t>
            </a:r>
            <a:r>
              <a:rPr spc="-10" dirty="0"/>
              <a:t>Management 	</a:t>
            </a:r>
            <a:r>
              <a:rPr dirty="0"/>
              <a:t>Systems,</a:t>
            </a:r>
            <a:r>
              <a:rPr spc="-55" dirty="0"/>
              <a:t> </a:t>
            </a:r>
            <a:r>
              <a:rPr spc="-10" dirty="0"/>
              <a:t>11(2).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4826" y="3228657"/>
            <a:ext cx="421132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rgbClr val="000000"/>
                </a:solidFill>
              </a:rPr>
              <a:t>THANK</a:t>
            </a:r>
            <a:r>
              <a:rPr sz="5400" spc="-245" dirty="0">
                <a:solidFill>
                  <a:srgbClr val="000000"/>
                </a:solidFill>
              </a:rPr>
              <a:t> </a:t>
            </a:r>
            <a:r>
              <a:rPr sz="5400" spc="-25" dirty="0">
                <a:solidFill>
                  <a:srgbClr val="000000"/>
                </a:solidFill>
              </a:rPr>
              <a:t>YOU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1219</Words>
  <Application>Microsoft Office PowerPoint</Application>
  <PresentationFormat>Widescreen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Theme</vt:lpstr>
      <vt:lpstr>CSA0203- C PROGRAMMING</vt:lpstr>
      <vt:lpstr>Introduction</vt:lpstr>
      <vt:lpstr>Problem Statement</vt:lpstr>
      <vt:lpstr>Abstract</vt:lpstr>
      <vt:lpstr>Existing System</vt:lpstr>
      <vt:lpstr>Proposed System</vt:lpstr>
      <vt:lpstr>Functionality</vt:lpstr>
      <vt:lpstr>Module 1: Student Marks Entry Module</vt:lpstr>
      <vt:lpstr>Module 1: Student Marks Entry Module</vt:lpstr>
      <vt:lpstr>Module 2: Evaluation Processing Module</vt:lpstr>
      <vt:lpstr>Module 2: Evaluation Processing Module</vt:lpstr>
      <vt:lpstr>Module 3: Grade Calculation &amp; Result Processing Module</vt:lpstr>
      <vt:lpstr>Module 3: Grade Calculation &amp; Result Processing Module</vt:lpstr>
      <vt:lpstr>Algorithms</vt:lpstr>
      <vt:lpstr>OUTPUT</vt:lpstr>
      <vt:lpstr>OUTPUT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jaswanthkrishna702@gmail.com</cp:lastModifiedBy>
  <cp:revision>3</cp:revision>
  <dcterms:created xsi:type="dcterms:W3CDTF">2026-08-17T16:33:51Z</dcterms:created>
  <dcterms:modified xsi:type="dcterms:W3CDTF">2026-08-29T08:11:14Z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2026-08-02T00:00:00Z</vt:filetime>
  </property>
  <property fmtid="{D5CDD505-2E9C-101B-9397-08002B2CF9AE}" pid="4" name="LastSaved">
    <vt:filetime>2026-08-17T00:00:00Z</vt:filetime>
  </property>
  <property fmtid="{D5CDD505-2E9C-101B-9397-08002B2CF9AE}" pid="5" name="Producer">
    <vt:lpwstr>3-Heights(TM) PDF Security Shell 4.8.25.2 (http://www.pdf-tools.com)</vt:lpwstr>
  </property>
</Properties>
</file>