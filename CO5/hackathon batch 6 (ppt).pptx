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7" r:id="rId7"/>
    <p:sldId id="268" r:id="rId8"/>
    <p:sldId id="264" r:id="rId9"/>
    <p:sldId id="265" r:id="rId10"/>
    <p:sldId id="266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11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125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2000" y="0"/>
                </a:moveTo>
                <a:lnTo>
                  <a:pt x="0" y="0"/>
                </a:lnTo>
                <a:lnTo>
                  <a:pt x="0" y="66675"/>
                </a:lnTo>
                <a:lnTo>
                  <a:pt x="12192000" y="66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38125"/>
            <a:ext cx="935302" cy="97155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3250" y="276225"/>
            <a:ext cx="1066800" cy="895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800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4125"/>
            <a:ext cx="12192000" cy="66675"/>
          </a:xfrm>
          <a:custGeom>
            <a:avLst/>
            <a:gdLst/>
            <a:ahLst/>
            <a:cxnLst/>
            <a:rect l="l" t="t" r="r" b="b"/>
            <a:pathLst>
              <a:path w="12192000" h="66675">
                <a:moveTo>
                  <a:pt x="12192000" y="0"/>
                </a:moveTo>
                <a:lnTo>
                  <a:pt x="0" y="0"/>
                </a:lnTo>
                <a:lnTo>
                  <a:pt x="0" y="66675"/>
                </a:lnTo>
                <a:lnTo>
                  <a:pt x="12192000" y="66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95387" y="1738376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49903" y="242887"/>
            <a:ext cx="4630547" cy="14217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9492" y="2131758"/>
            <a:ext cx="9177655" cy="3688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715" y="287278"/>
            <a:ext cx="9809076" cy="1311392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33495" y="2229485"/>
            <a:ext cx="454279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0" spc="-20" dirty="0">
                <a:solidFill>
                  <a:srgbClr val="FF0000"/>
                </a:solidFill>
                <a:latin typeface="Times New Roman"/>
                <a:cs typeface="Times New Roman"/>
              </a:rPr>
              <a:t>CSA0203-</a:t>
            </a:r>
            <a:r>
              <a:rPr sz="2750" b="0" spc="-9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0" dirty="0">
                <a:solidFill>
                  <a:srgbClr val="FF0000"/>
                </a:solidFill>
                <a:latin typeface="Times New Roman"/>
                <a:cs typeface="Times New Roman"/>
              </a:rPr>
              <a:t>C</a:t>
            </a:r>
            <a:r>
              <a:rPr sz="2750" b="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750" b="0" spc="-10" dirty="0">
                <a:solidFill>
                  <a:srgbClr val="FF0000"/>
                </a:solidFill>
                <a:latin typeface="Times New Roman"/>
                <a:cs typeface="Times New Roman"/>
              </a:rPr>
              <a:t>PROGRAMMING</a:t>
            </a:r>
            <a:endParaRPr sz="275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30375" y="2916872"/>
            <a:ext cx="8729980" cy="4503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7410" marR="5080" indent="-2124710" algn="ctr">
              <a:lnSpc>
                <a:spcPct val="100000"/>
              </a:lnSpc>
              <a:spcBef>
                <a:spcPts val="95"/>
              </a:spcBef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 Monitoring System Using C</a:t>
            </a:r>
            <a:endParaRPr sz="2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012" y="4917376"/>
            <a:ext cx="3411220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Guided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Times New Roman"/>
                <a:cs typeface="Times New Roman"/>
              </a:rPr>
              <a:t>By: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65"/>
              </a:lnSpc>
            </a:pPr>
            <a:r>
              <a:rPr sz="2400" spc="-10" dirty="0">
                <a:latin typeface="Times New Roman"/>
                <a:cs typeface="Times New Roman"/>
              </a:rPr>
              <a:t>Dr.Saravanan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Kaliaperumal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00951" y="4619942"/>
            <a:ext cx="379412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Student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Names: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865"/>
              </a:lnSpc>
            </a:pPr>
            <a:r>
              <a:rPr sz="2400" dirty="0">
                <a:latin typeface="Times New Roman"/>
                <a:cs typeface="Times New Roman"/>
              </a:rPr>
              <a:t>R.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Jaideep(192525441)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  <a:spcBef>
                <a:spcPts val="50"/>
              </a:spcBef>
            </a:pPr>
            <a:r>
              <a:rPr sz="2400" dirty="0">
                <a:latin typeface="Times New Roman"/>
                <a:cs typeface="Times New Roman"/>
              </a:rPr>
              <a:t>B.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Bhanu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Prakash(192412518)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870"/>
              </a:lnSpc>
            </a:pPr>
            <a:r>
              <a:rPr sz="2400" spc="-160" dirty="0">
                <a:latin typeface="Times New Roman"/>
                <a:cs typeface="Times New Roman"/>
              </a:rPr>
              <a:t>P.</a:t>
            </a:r>
            <a:r>
              <a:rPr sz="2400" dirty="0">
                <a:latin typeface="Times New Roman"/>
                <a:cs typeface="Times New Roman"/>
              </a:rPr>
              <a:t> Jeevan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Kumar(192572090)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550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594" rIns="0" bIns="0" rtlCol="0">
            <a:spAutoFit/>
          </a:bodyPr>
          <a:lstStyle/>
          <a:p>
            <a:pPr marL="600710">
              <a:lnSpc>
                <a:spcPct val="100000"/>
              </a:lnSpc>
              <a:spcBef>
                <a:spcPts val="105"/>
              </a:spcBef>
            </a:pPr>
            <a:r>
              <a:rPr sz="5400" spc="-55" dirty="0"/>
              <a:t>Introduction</a:t>
            </a:r>
            <a:endParaRPr sz="54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06100" y="561975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1000" y="2019604"/>
            <a:ext cx="9732545" cy="457567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Farm Monitoring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farms use multiple sensor nodes for monitoring. </a:t>
            </a:r>
          </a:p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measure: 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Moisture 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 </a:t>
            </a: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Level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is periodically sent to a central monitoring system.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sensors can increase dynamically. </a:t>
            </a:r>
          </a:p>
          <a:p>
            <a:pPr lvl="0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" y="69532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81400" y="434198"/>
            <a:ext cx="6506274" cy="1112804"/>
          </a:xfrm>
          <a:prstGeom prst="rect">
            <a:avLst/>
          </a:prstGeom>
        </p:spPr>
        <p:txBody>
          <a:bodyPr vert="horz" wrap="square" lIns="0" tIns="5534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Problem Statement &amp; Objectives</a:t>
            </a:r>
            <a:endParaRPr sz="3600" b="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2300" y="600075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57200" y="1886229"/>
            <a:ext cx="10591800" cy="4266361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agricultural farms contain hundreds of sensors. Manually monitoring all sensors is difficult, especially when sensors become inactive or stop sending data.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Dynamically register sensor nodes.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sensor information using pointers.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sensor readings using C functions.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farm hierarchy using recursion.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historical sensor readings.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inactive sensors.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86200" y="942975"/>
            <a:ext cx="4495800" cy="57066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600" dirty="0"/>
              <a:t>System Architecture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67975" y="552450"/>
            <a:ext cx="1066800" cy="78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A5F1A2-A412-E35C-FA9E-111F7DCDF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875" t="22057" r="50000" b="18874"/>
          <a:stretch>
            <a:fillRect/>
          </a:stretch>
        </p:blipFill>
        <p:spPr>
          <a:xfrm>
            <a:off x="894347" y="1821046"/>
            <a:ext cx="4515853" cy="45061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5D5B69-4402-04F0-5C8B-BA1EB1FB16A1}"/>
              </a:ext>
            </a:extLst>
          </p:cNvPr>
          <p:cNvSpPr txBox="1"/>
          <p:nvPr/>
        </p:nvSpPr>
        <p:spPr>
          <a:xfrm>
            <a:off x="6781800" y="2209800"/>
            <a:ext cx="3581400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Key Components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Sensor Registration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Data Generation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Data Management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Historical Storage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Sensor Status Monitoring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Alert Generation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125" y="600075"/>
            <a:ext cx="935302" cy="733425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78391" y="205867"/>
            <a:ext cx="4630547" cy="1298368"/>
          </a:xfrm>
          <a:prstGeom prst="rect">
            <a:avLst/>
          </a:prstGeom>
        </p:spPr>
        <p:txBody>
          <a:bodyPr vert="horz" wrap="square" lIns="0" tIns="737171" rIns="0" bIns="0" rtlCol="0">
            <a:spAutoFit/>
          </a:bodyPr>
          <a:lstStyle/>
          <a:p>
            <a:pPr marL="1487170">
              <a:lnSpc>
                <a:spcPct val="100000"/>
              </a:lnSpc>
              <a:spcBef>
                <a:spcPts val="130"/>
              </a:spcBef>
            </a:pPr>
            <a:r>
              <a:rPr sz="3600" spc="-45" dirty="0"/>
              <a:t>Functionality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7075" y="552450"/>
            <a:ext cx="1066800" cy="7810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776" y="1919706"/>
            <a:ext cx="8747125" cy="4266361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Sensor Registration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Monitoring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Pointer-Based Data Management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Hierarchy Traversal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Transmission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Storage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Inactive Sensor Detection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Alert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 Configuration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4075" y="2324100"/>
            <a:ext cx="6019800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9CCFB-E0DA-A6DF-C93C-DA932CCD9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5C855967-7BC1-86F0-444E-3D38051062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619125"/>
            <a:ext cx="935302" cy="971550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C6AD736-AED2-7E54-D82F-385D614D0E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4977" y="503850"/>
            <a:ext cx="4630547" cy="1020150"/>
          </a:xfrm>
          <a:prstGeom prst="rect">
            <a:avLst/>
          </a:prstGeom>
        </p:spPr>
        <p:txBody>
          <a:bodyPr vert="horz" wrap="square" lIns="0" tIns="461644" rIns="0" bIns="0" rtlCol="0">
            <a:spAutoFit/>
          </a:bodyPr>
          <a:lstStyle/>
          <a:p>
            <a:pPr marL="477520" algn="ctr">
              <a:lnSpc>
                <a:spcPct val="100000"/>
              </a:lnSpc>
              <a:spcBef>
                <a:spcPts val="105"/>
              </a:spcBef>
            </a:pPr>
            <a:r>
              <a:rPr lang="en-IN" sz="3600" spc="-45" dirty="0"/>
              <a:t>OUTPUT</a:t>
            </a:r>
            <a:endParaRPr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532E3B0-CBC2-8819-7D43-3B0AFB0B68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2750" y="619125"/>
            <a:ext cx="1066800" cy="9048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D2E49C-2B56-C3BD-17DD-7AD47B616B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710" b="6081"/>
          <a:stretch>
            <a:fillRect/>
          </a:stretch>
        </p:blipFill>
        <p:spPr>
          <a:xfrm>
            <a:off x="466725" y="1865925"/>
            <a:ext cx="11258550" cy="437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398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6ECA1-28B3-C6A4-4594-0713A1EC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F7F7D033-82D4-8197-FC40-87D2DB4C07F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619125"/>
            <a:ext cx="935302" cy="971550"/>
          </a:xfrm>
          <a:prstGeom prst="rect">
            <a:avLst/>
          </a:prstGeom>
        </p:spPr>
      </p:pic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4AB0A7E-1559-87D1-66B1-090A7F4F8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14977" y="503850"/>
            <a:ext cx="4630547" cy="1020150"/>
          </a:xfrm>
          <a:prstGeom prst="rect">
            <a:avLst/>
          </a:prstGeom>
        </p:spPr>
        <p:txBody>
          <a:bodyPr vert="horz" wrap="square" lIns="0" tIns="461644" rIns="0" bIns="0" rtlCol="0">
            <a:spAutoFit/>
          </a:bodyPr>
          <a:lstStyle/>
          <a:p>
            <a:pPr marL="477520" algn="ctr">
              <a:lnSpc>
                <a:spcPct val="100000"/>
              </a:lnSpc>
              <a:spcBef>
                <a:spcPts val="105"/>
              </a:spcBef>
            </a:pPr>
            <a:r>
              <a:rPr lang="en-IN" sz="3600" spc="-45" dirty="0"/>
              <a:t>OUTPUT</a:t>
            </a:r>
            <a:endParaRPr sz="36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330015B-9166-B2B4-E368-04722E96E3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2750" y="619125"/>
            <a:ext cx="1066800" cy="904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A6C14C-EEBC-DEFD-7063-DA8338D4C2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31" t="35549" r="6250" b="7327"/>
          <a:stretch>
            <a:fillRect/>
          </a:stretch>
        </p:blipFill>
        <p:spPr>
          <a:xfrm>
            <a:off x="381000" y="1828799"/>
            <a:ext cx="11430490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345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50" y="619125"/>
            <a:ext cx="935302" cy="971550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0" y="503850"/>
            <a:ext cx="4630547" cy="1020150"/>
          </a:xfrm>
          <a:prstGeom prst="rect">
            <a:avLst/>
          </a:prstGeom>
        </p:spPr>
        <p:txBody>
          <a:bodyPr vert="horz" wrap="square" lIns="0" tIns="461644" rIns="0" bIns="0" rtlCol="0">
            <a:spAutoFit/>
          </a:bodyPr>
          <a:lstStyle/>
          <a:p>
            <a:pPr marL="477520">
              <a:lnSpc>
                <a:spcPct val="100000"/>
              </a:lnSpc>
              <a:spcBef>
                <a:spcPts val="105"/>
              </a:spcBef>
            </a:pPr>
            <a:r>
              <a:rPr sz="3600" spc="-45" dirty="0"/>
              <a:t>Conclusion</a:t>
            </a:r>
            <a:endParaRPr sz="36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72750" y="619125"/>
            <a:ext cx="1066800" cy="9048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1000" y="1981200"/>
            <a:ext cx="7620000" cy="41095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Developed a Smart Farm Monitoring System using C.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Supports dynamic sensor registration and data management.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Monitors soil moisture, temperature, humidity, and water level.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Stores sensor readings for historical monitoring.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Detects inactive sensors when data is not received within the specified interval.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Automatically generates an alert for inactive sensors.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The prototype demonstrates how C programming can support scalable and automated farm monitoring.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38125"/>
            <a:ext cx="935302" cy="971550"/>
          </a:xfrm>
          <a:prstGeom prst="rect">
            <a:avLst/>
          </a:prstGeom>
        </p:spPr>
      </p:pic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62400" y="555018"/>
            <a:ext cx="4630547" cy="966289"/>
          </a:xfrm>
          <a:prstGeom prst="rect">
            <a:avLst/>
          </a:prstGeom>
        </p:spPr>
        <p:txBody>
          <a:bodyPr vert="horz" wrap="square" lIns="0" tIns="408304" rIns="0" bIns="0" rtlCol="0">
            <a:spAutoFit/>
          </a:bodyPr>
          <a:lstStyle/>
          <a:p>
            <a:pPr marL="586740">
              <a:lnSpc>
                <a:spcPct val="100000"/>
              </a:lnSpc>
              <a:spcBef>
                <a:spcPts val="105"/>
              </a:spcBef>
            </a:pPr>
            <a:r>
              <a:rPr sz="3600" spc="-55" dirty="0"/>
              <a:t>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3250" y="276225"/>
            <a:ext cx="1066800" cy="8953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72363" y="2000526"/>
            <a:ext cx="10847274" cy="4266361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Kernighan, B. W., &amp; Ritchie, D. M. (1988). The C Programming Language (2nd ed.). Prentice Hall.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Stevens, W. R., Fenner, B., &amp; Rudoff, A. M. (2003). UNIX Network Programming: The Sockets Networking API (3rd ed.). Addison-Wesley.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 err="1"/>
              <a:t>Butenhof</a:t>
            </a:r>
            <a:r>
              <a:rPr lang="en-IN" dirty="0"/>
              <a:t>, D. R. (1997). Programming with POSIX Threads. Addison-Wesley.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Tanenbaum, A. S., &amp; Bos, H. (2014). Modern Operating Systems (4th ed.). Pearson.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 err="1"/>
              <a:t>Bahga</a:t>
            </a:r>
            <a:r>
              <a:rPr lang="en-IN" dirty="0"/>
              <a:t>, A., &amp; </a:t>
            </a:r>
            <a:r>
              <a:rPr lang="en-IN" dirty="0" err="1"/>
              <a:t>Madisetti</a:t>
            </a:r>
            <a:r>
              <a:rPr lang="en-IN" dirty="0"/>
              <a:t>, V. (2014). Internet of Things: A Hands-on Approach. Universities Press.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Ayaz, M., Ammad-Uddin, M., Sharif, Z., Mansour, A., &amp; Aggoune, E.-H. M. (2019). Internet-of-Things (IoT)-based smart agriculture: Toward making the fields talk. IEEE Access, 7, 129551–129583.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14826" y="3228657"/>
            <a:ext cx="4211320" cy="849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dirty="0">
                <a:solidFill>
                  <a:srgbClr val="000000"/>
                </a:solidFill>
              </a:rPr>
              <a:t>THANK</a:t>
            </a:r>
            <a:r>
              <a:rPr sz="5400" spc="-245" dirty="0">
                <a:solidFill>
                  <a:srgbClr val="000000"/>
                </a:solidFill>
              </a:rPr>
              <a:t> </a:t>
            </a:r>
            <a:r>
              <a:rPr sz="5400" spc="-25" dirty="0">
                <a:solidFill>
                  <a:srgbClr val="000000"/>
                </a:solidFill>
              </a:rPr>
              <a:t>YOU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434</Words>
  <Application>Microsoft Office PowerPoint</Application>
  <PresentationFormat>Widescreen</PresentationFormat>
  <Paragraphs>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Times New Roman</vt:lpstr>
      <vt:lpstr>Office Theme</vt:lpstr>
      <vt:lpstr>CSA0203- C PROGRAMMING</vt:lpstr>
      <vt:lpstr>Introduction</vt:lpstr>
      <vt:lpstr>Problem Statement &amp; Objectives</vt:lpstr>
      <vt:lpstr>System Architecture</vt:lpstr>
      <vt:lpstr>Functionality</vt:lpstr>
      <vt:lpstr>OUTPUT</vt:lpstr>
      <vt:lpstr>OUTPUT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jaswanthkrishna702@gmail.com</cp:lastModifiedBy>
  <cp:revision>3</cp:revision>
  <dcterms:created xsi:type="dcterms:W3CDTF">2026-08-17T16:33:51Z</dcterms:created>
  <dcterms:modified xsi:type="dcterms:W3CDTF">2026-08-31T17:54:40Z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2026-08-02T00:00:00Z</vt:filetime>
  </property>
  <property fmtid="{D5CDD505-2E9C-101B-9397-08002B2CF9AE}" pid="4" name="LastSaved">
    <vt:filetime>2026-08-17T00:00:00Z</vt:filetime>
  </property>
  <property fmtid="{D5CDD505-2E9C-101B-9397-08002B2CF9AE}" pid="5" name="Producer">
    <vt:lpwstr>3-Heights(TM) PDF Security Shell 4.8.25.2 (http://www.pdf-tools.com)</vt:lpwstr>
  </property>
</Properties>
</file>